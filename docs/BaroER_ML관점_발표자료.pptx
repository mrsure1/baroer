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y  =  f ( x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머신러닝의 가장 단순한 수식,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6499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그 관점으로 바로응급실을 해부하다.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630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2743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53935"/>
                </a:solidFill>
                <a:latin typeface="맑은 고딕"/>
              </a:rPr>
              <a:t>ML PERSPECTIVE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01218"/>
                </a:solidFill>
                <a:latin typeface="맑은 고딕"/>
              </a:rPr>
              <a:t>바로응급실을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01218"/>
                </a:solidFill>
                <a:latin typeface="맑은 고딕"/>
              </a:rPr>
              <a:t>머신러닝 관점으로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53935"/>
                </a:solidFill>
                <a:latin typeface="맑은 고딕"/>
              </a:rPr>
              <a:t>이해하기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160520"/>
            <a:ext cx="365760" cy="36576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297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y · f · x 로 풀어보는 10분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89204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502920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5</a:t>
            </a:r>
            <a:r>
              <a:rPr sz="1800" b="1" i="0">
                <a:solidFill>
                  <a:srgbClr val="636573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8064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층(layer) 으로 쌓인  출력  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89204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502920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21</a:t>
            </a:r>
            <a:r>
              <a:rPr sz="1800" b="1" i="0">
                <a:solidFill>
                  <a:srgbClr val="636573"/>
                </a:solidFill>
                <a:latin typeface="Segoe U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8064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개의 입력 변수  x  (5 그룹)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489204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5029200"/>
            <a:ext cx="1920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3</a:t>
            </a:r>
            <a:r>
              <a:rPr sz="1800" b="1" i="0">
                <a:solidFill>
                  <a:srgbClr val="636573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8064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단계로 진화하는  f  (Rule → ML → Multi-task)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080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E91A0"/>
                </a:solidFill>
                <a:latin typeface="Segoe UI"/>
              </a:rPr>
              <a:t>MrSure · 이진영     |     2026-04-23     |     BaroER Project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01 · 워밍업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02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y = f(x) 는 뭘까?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입력(x) → 규칙(f) → 결과(y), 그뿐.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E53935"/>
                </a:solidFill>
                <a:latin typeface="맑은 고딕"/>
              </a:rPr>
              <a:t>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01218"/>
                </a:solidFill>
                <a:latin typeface="맑은 고딕"/>
              </a:rPr>
              <a:t>x  ·  입력 (Input)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지금 이 순간 센서·사용자·외부에서 들어오는 모든 정보.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예) 증상, 위치, 병원 상태…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8862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0D9488"/>
                </a:solidFill>
                <a:latin typeface="맑은 고딕"/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434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01218"/>
                </a:solidFill>
                <a:latin typeface="맑은 고딕"/>
              </a:rPr>
              <a:t>f  ·  규칙 (Model)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8463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x 로부터 y 를 뽑아내는 방법.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사람이 짠 공식이면 Rule-Based,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데이터로 학습하면 Machine Learning.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38862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E53935"/>
                </a:solidFill>
                <a:latin typeface="맑은 고딕"/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4348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01218"/>
                </a:solidFill>
                <a:latin typeface="맑은 고딕"/>
              </a:rPr>
              <a:t>y  ·  결과 (Output)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46320"/>
            <a:ext cx="3108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앱이 사용자에게 돌려주는 답.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예) KTAS 등급, 병원 순위, 도착 시간…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126480"/>
            <a:ext cx="10698480" cy="548640"/>
          </a:xfrm>
          <a:prstGeom prst="roundRect">
            <a:avLst>
              <a:gd name="adj" fmla="val 8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맑은 고딕"/>
              </a:rPr>
              <a:t>바로응급실 = "응급 상황(x) 을 받아서, 환자를 살릴 병원(y) 을 빠르게 찾아주는 f" 를 만드는 프로젝트.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02 · 출력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03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y 는 무엇인가?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하나가 아니라 5층으로 쌓여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566160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5661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KTAS 1~5 등급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중증도 분류 · Multi-class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42232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4142232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41422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병원 추천 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42232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Learning-to-Rank · 앱의 핵심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18304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18304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4718304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471830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수용 가능성 0~100%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18304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이진 분류 · 🟢🟠🔴 마커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94376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94376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5294376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529437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도착/대기 시간(분)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94376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회귀 (Regression)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70448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870448"/>
            <a:ext cx="11887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5870448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587044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환자 예후 · 생존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70448"/>
            <a:ext cx="47548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의사결정 최적화 · 앱의 존재 이유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03 · 입력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04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x 는 총 21개,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5 개 그룹으로 이루어진 상황 스냅샷.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2926080" cy="2834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926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개의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FDEBEB"/>
                </a:solidFill>
                <a:latin typeface="Segoe UI"/>
              </a:rPr>
              <a:t>(x₁ ~ x₂₁)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566160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14800" y="3675888"/>
            <a:ext cx="292608" cy="29260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3675888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환자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566160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6 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566160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증상·의식·연령 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4123944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14800" y="4233672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423367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23944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상황·컨텍스트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123944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4 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123944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위치·시각·반경·망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4681728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14800" y="4791456"/>
            <a:ext cx="292608" cy="292608"/>
          </a:xfrm>
          <a:prstGeom prst="ellipse">
            <a:avLst/>
          </a:prstGeom>
          <a:solidFill>
            <a:srgbClr val="63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479145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681728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사용자 프로필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681728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2 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681728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일반/구급대원·소속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5239512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14800" y="5349240"/>
            <a:ext cx="292608" cy="292608"/>
          </a:xfrm>
          <a:prstGeom prst="ellipse">
            <a:avLst/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0" y="53492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39512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병원 실시간 속성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5239512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5 × N 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239512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병상·전문의·장비·수용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0" y="5797296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14800" y="5907024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0" y="59070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797296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경로·교통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5797296"/>
            <a:ext cx="1188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4 × N 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797296"/>
            <a:ext cx="2560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거리·ETA·혼잡·전화 결과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04 · X 상세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05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x 상세 ① — 사람과 상황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그룹 A·B·C : 총 12개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맑은 고딕"/>
              </a:rPr>
              <a:t>A. 환자 정보 · 6개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486400" cy="329184"/>
          </a:xfrm>
          <a:prstGeom prst="roundRect">
            <a:avLst>
              <a:gd name="adj" fmla="val 6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319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61104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6110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증상 키워드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6110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흉통, 호흡곤란, 외상, 두통, 복통, 의식저하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90288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9028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상세 증상 텍스트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59028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“가슴이 10분째 답답해요” (텍스트/음성)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19472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19472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1947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환자 성별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91947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남 / 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48656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48656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4865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환자 연령대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24865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영유아 · 소아 · 성인 · 노인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577840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57784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778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의식 상태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5778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명료 / 기면 / 혼미 / 무반응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907024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907024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90702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발병 시점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90702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30분 전부터 (수면 중 시작 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661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D9488"/>
                </a:solidFill>
                <a:latin typeface="맑은 고딕"/>
              </a:rPr>
              <a:t>B. 상황·컨텍스트 · 4개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931920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37960" y="393192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93192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93192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61104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4261104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26110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현재 위치 (GPS)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26110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(37.5665, 126.9780)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590288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37960" y="459028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59028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현재 시각·요일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459028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2026-04-23 03:12 (평일·새벽)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919472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37960" y="4919472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491947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검색 반경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491947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5 / 10 / 20 km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5248656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5248656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524865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네트워크 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524865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온라인 / 오프라인 / 저속망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760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636573"/>
                </a:solidFill>
                <a:latin typeface="맑은 고딕"/>
              </a:rPr>
              <a:t>C. 사용자 프로필 · 2개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6126480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63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37960" y="612648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0" y="612648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612648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6455664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37960" y="6455664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645566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사용자 유형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645566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일반 시민 / 구급대원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6784848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7960" y="678484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678484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소속기관 코드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678484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119-Seoul-Jongno (구급대원만)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05 · X 상세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06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x 상세 ② — 병원과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그룹 D·E : (5 + 4) × 주변 병원 수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반경 내 응급실이 N 곳 있다면, 아래 9개 속성이 병원마다 반복되어 붙는 행렬 형태의 입력입니다.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97322"/>
                </a:solidFill>
                <a:latin typeface="맑은 고딕"/>
              </a:rPr>
              <a:t>D. 병원 실시간 속성 · 5 × N개  (출처: 공공데이터)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486400" cy="329184"/>
          </a:xfrm>
          <a:prstGeom prst="roundRect">
            <a:avLst>
              <a:gd name="adj" fmla="val 6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6634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634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92624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92624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9262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응급실 병상 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99262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일반 3 / 중환자 1 / 외상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21808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2180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2180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수용 가능 여부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32180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Y (수용) / 혼잡 / N (불가)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50992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650992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65099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대응 전문의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65099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응급 · 외과 · 소아 · 산부인과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980176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80176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98017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특수 장비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98017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CT · MRI · 혈관조영 · ECMO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309360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630936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63093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병원 기본정보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630936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명칭·주소·전화·좌표 (상수)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976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D9488"/>
                </a:solidFill>
                <a:latin typeface="맑은 고딕"/>
              </a:rPr>
              <a:t>E. 경로·교통 · 4 × N개  (출처: 지도·내비 API)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663440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663440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663440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663440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92624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4992624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992624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직선거리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992624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3.4 km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321808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321808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5321808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도로 기반 ETA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5321808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12분 (Naver Directions)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650992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5650992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650992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실시간 교통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565099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정체 / 원활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980176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37960" y="5980176"/>
            <a:ext cx="7315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5980176"/>
            <a:ext cx="22860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자동 전화 결과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598017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수용 ✅ / 불가 ❌ / 무응답 (Twilio)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06 · 모델링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07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어떤 모델링을 참고했나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의료 분류 × 추천 시스템 × 온라인 학습의 하이브리드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91440" cy="14173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KTAS (Korean Triage &amp; Acuity 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대한응급의학회의 5단계 중증도 분류 표준.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규칙 기반 체크리스트로 시작 → 향후 NLP 기반 분류기로 대체 가능.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61772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617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Rule → Multi-class 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91440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7490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Learning-to-Rank (LTR)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80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Microsoft LambdaMART / XGBoost-Rank 계열.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검색엔진·쇼핑몰의 "N개 후보를 점수순 정렬" 문제와 동형.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61772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617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맑은 고딕"/>
              </a:rPr>
              <a:t>Pairwise / Listwise Ranking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1663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166360"/>
            <a:ext cx="91440" cy="14173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349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Contextual Bandit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1500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Netflix·광고 추천에서 쓰는 온라인 의사결정 기법.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"이 병원에 보내 본 결과" 로 모델을 실시간 업데이트.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621792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6217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LinUCB · Thompson Sampling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516636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5166360"/>
            <a:ext cx="91440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3492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Clinical Prediction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715000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MIMIC-III, eICU 등 공개 응급실 데이터셋 연구.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병원 수용 가능성 · 대기시간 예측에 로지스틱 회귀·부스팅 모델 사용.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6217920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62179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맑은 고딕"/>
              </a:rPr>
              <a:t>Binary Classification · Regression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6400800"/>
            <a:ext cx="10698480" cy="320040"/>
          </a:xfrm>
          <a:prstGeom prst="roundRect">
            <a:avLst>
              <a:gd name="adj" fmla="val 6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6400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※ 현재 MVP 는 위 기법들의 "입력/출력 구조" 만 먼저 맞춰 두고, 충분한 로그가 쌓이면 모델로 순차 교체하는 ML-Ready 설계.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07 · 통계 ·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08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실제로 쓰이는 통계와 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지금은 규칙, 내일은 학습.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70332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NOW · Rule-Based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현재 MVP 의 병원 점수 공식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26280"/>
            <a:ext cx="5029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Segoe UI"/>
              </a:rPr>
              <a:t>점수 = 거리 × 0.4  +  수용가능 × 0.5  +  중증도매칭 × 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거리 : Haversine 공식 (위·경도 → km)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수용가능 : 공공데이터 Y/혼잡/N 을 {1.0, 0.5, 0} 으로 인코딩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중증도매칭 : KTAS 등급 × 해당 병원 전문의 보유 가중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이진 뱃지 🟢🟠🔴 : 수용가능 변수의 임계치 기반 히스토그램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6616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70332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7033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D9488"/>
                </a:solidFill>
                <a:latin typeface="맑은 고딕"/>
              </a:rPr>
              <a:t>NEXT · ML-Ready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자동 기록되는 학습용 로그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526280"/>
            <a:ext cx="5029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52628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D9488"/>
                </a:solidFill>
                <a:latin typeface="Segoe UI"/>
              </a:rPr>
              <a:t>( 환자 상태 x , 선택된 병원 h , 처리시간 t , 결과 o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120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출동 수집 : 구급대원 FR-LOG 기능 (타임스탬프 자동)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94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분포 분석 : 시간대별 수용률, 지역별 뺑뻉이 빈도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669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모델 후보 : Logistic Regression → GBDT → LTR 순차 업그레이드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9436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평가 지표 : NDCG@5, Precision@1, 골든타임 준수율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</a:t>
            </a:r>
            <a:r>
              <a:rPr sz="1000" b="1" i="0">
                <a:solidFill>
                  <a:srgbClr val="8E91A0"/>
                </a:solidFill>
                <a:latin typeface="맑은 고딕"/>
              </a:rPr>
              <a:t>08 ·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09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하나의 f 가 아니라, 작은 f 여러 개가 이어진다.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x → f_STT → f_KTAS → f_Rank → f_Call → 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FDEBEB"/>
          </a:solidFill>
          <a:ln w="1524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567" y="4251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53935"/>
                </a:solidFill>
                <a:latin typeface="Segoe UI"/>
              </a:rPr>
              <a:t>입력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475488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음성·증상·위치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병원 실시간 상태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38247.5" y="4892040.0"/>
            <a:ext cx="320040.0" cy="0.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38247" y="4709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828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DCFCF7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58287" y="4251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D9488"/>
                </a:solidFill>
                <a:latin typeface="Segoe UI"/>
              </a:rPr>
              <a:t>f_STT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447" y="475488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Web Speech API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음성 → 텍스트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69967.5" y="4892040.0"/>
            <a:ext cx="320040.0" cy="0.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69967" y="4709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000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FDEBEB"/>
          </a:solidFill>
          <a:ln w="1524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0007" y="4251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53935"/>
                </a:solidFill>
                <a:latin typeface="Segoe UI"/>
              </a:rPr>
              <a:t>f_KTAS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167" y="475488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규칙 기반 분류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→ 향후 NLP 모델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1687.5" y="4892040.0"/>
            <a:ext cx="320040.0" cy="0.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01687" y="4709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172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DCFCF7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1727" y="4251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D9488"/>
                </a:solidFill>
                <a:latin typeface="Segoe UI"/>
              </a:rPr>
              <a:t>f_Rank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8887" y="475488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점수 공식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→ 향후 LTR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3407.5" y="4892040.0"/>
            <a:ext cx="320040.0" cy="0.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433407" y="470916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344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FDEBEB"/>
          </a:solidFill>
          <a:ln w="1524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53447" y="4251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53935"/>
                </a:solidFill>
                <a:latin typeface="Segoe UI"/>
              </a:rPr>
              <a:t>출력 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0607" y="475488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지도·리스트 표시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자동 전화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ML 관점의 핵심 : y 가 여러 층이므로 f 도 여러 개. 각 단계를 독립된 모델로 잘게 나누면 교체 · 실험 · 디버깅이 쉬워진다 (Multi-task / Pipeline).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91440" cy="64008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DEBEB"/>
                </a:solidFill>
                <a:latin typeface="Segoe UI"/>
              </a:rPr>
              <a:t>ONE-LINE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21 개의 입력,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5 층의 출력,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4114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53935"/>
                </a:solidFill>
                <a:latin typeface="맑은 고딕"/>
              </a:rPr>
              <a:t>하나의 사명.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4114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골든 타임 안에 환자를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가장 잘 살릴 수 있는 병원을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빠르고 정확하게 찾는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지능형 f 를 만드는 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E91A0"/>
                </a:solidFill>
                <a:latin typeface="Segoe UI"/>
              </a:rPr>
              <a:t>요약 수식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01218"/>
                </a:solidFill>
                <a:latin typeface="Segoe UI"/>
              </a:rPr>
              <a:t>f ( x_{환자}, x_{상황}, x_{프로필}, x_{병원}, x_{경로}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34640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E53935"/>
                </a:solidFill>
                <a:latin typeface="Segoe UI"/>
              </a:rPr>
              <a:t>  =  ( y_{KTAS}, y_{수용확률}, y_{순위}, y_{시간}, y_{예후}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8404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E91A0"/>
                </a:solidFill>
                <a:latin typeface="Segoe UI"/>
              </a:rPr>
              <a:t>f 의 진화 로드맵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4297680"/>
            <a:ext cx="292608" cy="29260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429768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519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Rule-Based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지금 · 가중 합계 공식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480060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48006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ML-Learned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7548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로그 누적 후 · LTR · GBDT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5303520"/>
            <a:ext cx="292608" cy="292608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53035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57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Multi-task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2578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KTAS·Rank·Call 통합 학습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5760720"/>
            <a:ext cx="6217920" cy="27432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0" y="585216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1218"/>
                </a:solidFill>
                <a:latin typeface="Segoe UI"/>
              </a:rPr>
              <a:t>Thanks.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626364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E91A0"/>
                </a:solidFill>
                <a:latin typeface="Segoe UI"/>
              </a:rPr>
              <a:t>MrSure · 이진영   ·   BaroER Project   ·   2026-04-23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