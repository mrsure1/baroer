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134" y="-8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DC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502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1218"/>
                </a:solidFill>
                <a:latin typeface="Segoe UI"/>
              </a:rPr>
              <a:t>BaroER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E53935"/>
                </a:solidFill>
                <a:latin typeface="맑은 고딕"/>
              </a:rPr>
              <a:t>EMERGENCY  ·  REAL-TIME  ·  MOBILE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101218"/>
                </a:solidFill>
                <a:latin typeface="맑은 고딕"/>
              </a:rPr>
              <a:t>바로응급실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77639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E53935"/>
                </a:solidFill>
                <a:latin typeface="맑은 고딕"/>
              </a:rPr>
              <a:t>가장 가까운 응급실을  지금 바로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0916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636573"/>
                </a:solidFill>
                <a:latin typeface="맑은 고딕"/>
              </a:rPr>
              <a:t>실시간 병상 · 길안내 · 구급 리포트까지.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636573"/>
                </a:solidFill>
                <a:latin typeface="맑은 고딕"/>
              </a:rPr>
              <a:t>1초가 생명인 순간, 가장 단순한 인터페이스로 응급실에 연결합니다.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943600"/>
            <a:ext cx="11155680" cy="457200"/>
          </a:xfrm>
          <a:prstGeom prst="roundRect">
            <a:avLst>
              <a:gd name="adj" fmla="val 30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989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팀 5인  ·   Next.js · Supabase · Naver Maps   ·   공공데이터 · E-Gen   ·   Pitch Deck v1 · 2026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410C13-E54D-4E2F-99E2-DC8D79AB7069}"/>
              </a:ext>
            </a:extLst>
          </p:cNvPr>
          <p:cNvSpPr txBox="1"/>
          <p:nvPr/>
        </p:nvSpPr>
        <p:spPr>
          <a:xfrm>
            <a:off x="9886152" y="5087466"/>
            <a:ext cx="1818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AI</a:t>
            </a:r>
            <a:r>
              <a:rPr lang="en-US" altLang="ko-KR" dirty="0"/>
              <a:t> </a:t>
            </a:r>
            <a:r>
              <a:rPr lang="ko-KR" altLang="en-US" sz="2400" dirty="0"/>
              <a:t>르네상스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WHY · 개발 동기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02  / 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맑은 고딕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응급 상황이 시작된 순간,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골든타임이 움직이기 시작합니다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636573"/>
                </a:solidFill>
                <a:latin typeface="맑은 고딕"/>
              </a:rPr>
              <a:t>전국에 411개 이상의 응급의료기관이 있지만, 정작 환자·보호자가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636573"/>
                </a:solidFill>
                <a:latin typeface="맑은 고딕"/>
              </a:rPr>
              <a:t>“지금 갈 수 있는 곳이 어디인지”를 알아내기는 쉽지 않습니다.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E53935"/>
                </a:solidFill>
                <a:latin typeface="Segoe UI"/>
              </a:rPr>
              <a:t>411</a:t>
            </a:r>
            <a:r>
              <a:rPr sz="1800" b="1" i="0">
                <a:solidFill>
                  <a:srgbClr val="636573"/>
                </a:solidFill>
                <a:latin typeface="Segoe UI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8640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전국 응급의료기관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45720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0" y="470916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E53935"/>
                </a:solidFill>
                <a:latin typeface="Segoe UI"/>
              </a:rPr>
              <a:t>4</a:t>
            </a:r>
            <a:r>
              <a:rPr sz="1800" b="1" i="0">
                <a:solidFill>
                  <a:srgbClr val="636573"/>
                </a:solidFill>
                <a:latin typeface="Segoe UI"/>
              </a:rPr>
              <a:t>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48640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심정지 후 뇌손상 시작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5720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70916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E53935"/>
                </a:solidFill>
                <a:latin typeface="Segoe UI"/>
              </a:rPr>
              <a:t>70</a:t>
            </a:r>
            <a:r>
              <a:rPr sz="1800" b="1" i="0">
                <a:solidFill>
                  <a:srgbClr val="636573"/>
                </a:solidFill>
                <a:latin typeface="Segoe UI"/>
              </a:rPr>
              <a:t>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스마트폰으로 검색 시도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45720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470916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E53935"/>
                </a:solidFill>
                <a:latin typeface="Segoe UI"/>
              </a:rPr>
              <a:t>3</a:t>
            </a:r>
            <a:r>
              <a:rPr sz="1800" b="1" i="0">
                <a:solidFill>
                  <a:srgbClr val="636573"/>
                </a:solidFill>
                <a:latin typeface="Segoe UI"/>
              </a:rPr>
              <a:t>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548640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동시 참고하는 앱/사이트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SOLUTION · 우리의 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03  / 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맑은 고딕"/>
              </a:rPr>
              <a:t>BaroER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번거로운 단계 없이,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앱 하나로 끝내는 응급실 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636573"/>
                </a:solidFill>
                <a:latin typeface="맑은 고딕"/>
              </a:rPr>
              <a:t>한 번의 탭으로 검색이 시작되고, 실시간 병상·예상 시간·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636573"/>
                </a:solidFill>
                <a:latin typeface="맑은 고딕"/>
              </a:rPr>
              <a:t>길안내·구급 리포트까지 하나의 플로우로 이어집니다.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343400"/>
            <a:ext cx="228600" cy="22860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315968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976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01218"/>
                </a:solidFill>
                <a:latin typeface="맑은 고딕"/>
              </a:rPr>
              <a:t>빨간 Hero 한 번 탭 → 즉시 검색 시작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709160"/>
            <a:ext cx="228600" cy="22860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681728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634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01218"/>
                </a:solidFill>
                <a:latin typeface="맑은 고딕"/>
              </a:rPr>
              <a:t>칩·음성만으로 증상·연령 입력 (키보드 거의 불필요)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074920"/>
            <a:ext cx="228600" cy="22860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5047488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292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01218"/>
                </a:solidFill>
                <a:latin typeface="맑은 고딕"/>
              </a:rPr>
              <a:t>핀 3색(수용·붐빔·포화)으로 혼잡도 즉시 식별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5440680"/>
            <a:ext cx="228600" cy="22860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5413248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949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01218"/>
                </a:solidFill>
                <a:latin typeface="맑은 고딕"/>
              </a:rPr>
              <a:t>네이버·카카오·티맵으로 원탭 길안내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5806440"/>
            <a:ext cx="228600" cy="22860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5779008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7607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01218"/>
                </a:solidFill>
                <a:latin typeface="맑은 고딕"/>
              </a:rPr>
              <a:t>구급대원용 리포트 작성/검색 내장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1417320"/>
            <a:ext cx="3108960" cy="4846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0" y="14630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36573"/>
                </a:solidFill>
                <a:latin typeface="Segoe UI"/>
              </a:rPr>
              <a:t>9:41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26880" y="1490472"/>
            <a:ext cx="914400" cy="137160"/>
          </a:xfrm>
          <a:prstGeom prst="roundRect">
            <a:avLst>
              <a:gd name="adj" fmla="val 50000"/>
            </a:avLst>
          </a:prstGeom>
          <a:solidFill>
            <a:srgbClr val="10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03920" y="18288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응급실이 필요할 때, 바로 연결해 드릴게요.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30768" y="2194560"/>
            <a:ext cx="2706624" cy="146304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595360" y="23317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95360" y="23317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실시간 검색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269748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환자 상태를 입력하고</a:t>
            </a:r>
          </a:p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가장 가까운 응급실 찾기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95360" y="333756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95360" y="33375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시작하기 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30768" y="3794760"/>
            <a:ext cx="902208" cy="685800"/>
          </a:xfrm>
          <a:prstGeom prst="roundRect">
            <a:avLst>
              <a:gd name="adj" fmla="val 10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30768" y="3867912"/>
            <a:ext cx="902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411+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0768" y="4178808"/>
            <a:ext cx="902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636573"/>
                </a:solidFill>
                <a:latin typeface="맑은 고딕"/>
              </a:rPr>
              <a:t>응급기관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332976" y="3794760"/>
            <a:ext cx="902208" cy="685800"/>
          </a:xfrm>
          <a:prstGeom prst="roundRect">
            <a:avLst>
              <a:gd name="adj" fmla="val 10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32976" y="3867912"/>
            <a:ext cx="902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실시간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32976" y="4178808"/>
            <a:ext cx="902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636573"/>
                </a:solidFill>
                <a:latin typeface="맑은 고딕"/>
              </a:rPr>
              <a:t>E-Gen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35184" y="3794760"/>
            <a:ext cx="902208" cy="685800"/>
          </a:xfrm>
          <a:prstGeom prst="roundRect">
            <a:avLst>
              <a:gd name="adj" fmla="val 10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235184" y="3867912"/>
            <a:ext cx="902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24h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35184" y="4178808"/>
            <a:ext cx="902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636573"/>
                </a:solidFill>
                <a:latin typeface="맑은 고딕"/>
              </a:rPr>
              <a:t>야간·주말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430768" y="4663440"/>
            <a:ext cx="2706624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30768" y="4754880"/>
            <a:ext cx="2706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EF4444"/>
                </a:solidFill>
                <a:latin typeface="맑은 고딕"/>
              </a:rPr>
              <a:t>긴급 · EMERGENCY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0768" y="4937760"/>
            <a:ext cx="27066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EF4444"/>
                </a:solidFill>
                <a:latin typeface="Segoe UI"/>
              </a:rPr>
              <a:t>119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5715000"/>
            <a:ext cx="3108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29600" y="585216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6840" y="585216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맑은 고딕"/>
              </a:rPr>
              <a:t>검색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585216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맑은 고딕"/>
              </a:rPr>
              <a:t>기록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1320" y="585216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맑은 고딕"/>
              </a:rPr>
              <a:t>설정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CORE FEATURES · 핵심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04  / 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한 앱,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네 가지 핵심 흐름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36573"/>
                </a:solidFill>
                <a:latin typeface="맑은 고딕"/>
              </a:rPr>
              <a:t>홈에서 길안내까지 평균 4탭 이내.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36573"/>
                </a:solidFill>
                <a:latin typeface="맑은 고딕"/>
              </a:rPr>
              <a:t>사용자는 텍스트를 거의 입력하지 않습니다.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0120" y="44348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E53935"/>
                </a:solidFill>
                <a:latin typeface="맑은 고딕"/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16636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1218"/>
                </a:solidFill>
                <a:latin typeface="맑은 고딕"/>
              </a:rPr>
              <a:t>실시간 검색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577840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공공데이터 API 에서 병상/운영 상태를 불러와 위치 기준 정렬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420624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794760" y="44348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94760" y="44348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E53935"/>
                </a:solidFill>
                <a:latin typeface="맑은 고딕"/>
              </a:rPr>
              <a:t>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16636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1218"/>
                </a:solidFill>
                <a:latin typeface="맑은 고딕"/>
              </a:rPr>
              <a:t>KTAS 참고 등급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5577840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증상·연령 입력으로 1~5단계 중증도 힌트와 응급처치 요령 제공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20624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629400" y="44348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44348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E53935"/>
                </a:solidFill>
                <a:latin typeface="맑은 고딕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16636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1218"/>
                </a:solidFill>
                <a:latin typeface="맑은 고딕"/>
              </a:rPr>
              <a:t>원탭 길안내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577840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네이버·카카오·티맵 연동. 처음 한 번만 선택하면 이후 자동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420624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464040" y="44348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64040" y="44348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E53935"/>
                </a:solidFill>
                <a:latin typeface="맑은 고딕"/>
              </a:rPr>
              <a:t>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516636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1218"/>
                </a:solidFill>
                <a:latin typeface="맑은 고딕"/>
              </a:rPr>
              <a:t>구급 리포트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5577840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구급대원 모드에서 환자정보·KTAS·처치내역을 양식화해 기록/검색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TEAM · 역할 분담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05  / 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01218"/>
                </a:solidFill>
                <a:latin typeface="맑은 고딕"/>
              </a:rPr>
              <a:t>각자의 자리에서 빛난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E53935"/>
                </a:solidFill>
                <a:latin typeface="맑은 고딕"/>
              </a:rPr>
              <a:t>5인 프로젝트 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36573"/>
                </a:solidFill>
                <a:latin typeface="맑은 고딕"/>
              </a:rPr>
              <a:t>기술·기획·이해·문서·구현 다섯 축을 분리해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36573"/>
                </a:solidFill>
                <a:latin typeface="맑은 고딕"/>
              </a:rPr>
              <a:t>한 사람이 여러 역할을 겸하지 않아도 되는 구조를 유지했습니다.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03320"/>
            <a:ext cx="2148840" cy="251460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2148840" cy="73152"/>
          </a:xfrm>
          <a:prstGeom prst="roundRect">
            <a:avLst>
              <a:gd name="adj" fmla="val 3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0120" y="3977640"/>
            <a:ext cx="640080" cy="64008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9776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0916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01218"/>
                </a:solidFill>
                <a:latin typeface="맑은 고딕"/>
              </a:rPr>
              <a:t>정호식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0749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맑은 고딕"/>
              </a:rPr>
              <a:t>API · 기술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394960"/>
            <a:ext cx="1783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공공데이터·E-Gen API 발굴,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키 발급·등록, 기술 스펙 검토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703320"/>
            <a:ext cx="2148840" cy="251460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017520" y="3703320"/>
            <a:ext cx="2148840" cy="73152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246120" y="397764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46120" y="39776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70916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01218"/>
                </a:solidFill>
                <a:latin typeface="맑은 고딕"/>
              </a:rPr>
              <a:t>박선희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0749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D9488"/>
                </a:solidFill>
                <a:latin typeface="맑은 고딕"/>
              </a:rPr>
              <a:t>Tech Spec · 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394960"/>
            <a:ext cx="1783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기술 스펙 정리,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UI/UX 흐름과 카드 구조 검토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3703320"/>
            <a:ext cx="2148840" cy="251460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303520" y="3703320"/>
            <a:ext cx="2148840" cy="73152"/>
          </a:xfrm>
          <a:prstGeom prst="roundRect">
            <a:avLst>
              <a:gd name="adj" fmla="val 30000"/>
            </a:avLst>
          </a:prstGeom>
          <a:solidFill>
            <a:srgbClr val="63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532120" y="3977640"/>
            <a:ext cx="640080" cy="640080"/>
          </a:xfrm>
          <a:prstGeom prst="ellipse">
            <a:avLst/>
          </a:prstGeom>
          <a:solidFill>
            <a:srgbClr val="63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32120" y="39776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470916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01218"/>
                </a:solidFill>
                <a:latin typeface="맑은 고딕"/>
              </a:rPr>
              <a:t>엄경옥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50749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36573"/>
                </a:solidFill>
                <a:latin typeface="맑은 고딕"/>
              </a:rPr>
              <a:t>Concept · Research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5394960"/>
            <a:ext cx="1783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웹앱/PWA의 정의와 개념을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팀 전체에 매핑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3703320"/>
            <a:ext cx="2148840" cy="251460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589520" y="3703320"/>
            <a:ext cx="2148840" cy="73152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818120" y="3977640"/>
            <a:ext cx="640080" cy="64008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18120" y="39776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470916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01218"/>
                </a:solidFill>
                <a:latin typeface="맑은 고딕"/>
              </a:rPr>
              <a:t>이정운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120" y="50749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22C55E"/>
                </a:solidFill>
                <a:latin typeface="맑은 고딕"/>
              </a:rPr>
              <a:t>Docs · 발표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5394960"/>
            <a:ext cx="1783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개발 진행 자료 정리,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발표 덱과 자료 시각화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75520" y="3703320"/>
            <a:ext cx="2148840" cy="251460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875520" y="3703320"/>
            <a:ext cx="2148840" cy="73152"/>
          </a:xfrm>
          <a:prstGeom prst="roundRect">
            <a:avLst>
              <a:gd name="adj" fmla="val 30000"/>
            </a:avLst>
          </a:prstGeom>
          <a:solidFill>
            <a:srgbClr val="F9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0104120" y="3977640"/>
            <a:ext cx="640080" cy="640080"/>
          </a:xfrm>
          <a:prstGeom prst="ellipse">
            <a:avLst/>
          </a:prstGeom>
          <a:solidFill>
            <a:srgbClr val="F9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104120" y="39776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04120" y="470916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01218"/>
                </a:solidFill>
                <a:latin typeface="맑은 고딕"/>
              </a:rPr>
              <a:t>이진영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04120" y="50749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97322"/>
                </a:solidFill>
                <a:latin typeface="맑은 고딕"/>
              </a:rPr>
              <a:t>Engineering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04120" y="5394960"/>
            <a:ext cx="1783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Next.js/React 구현, Supabase 연동,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지도·리포트 기능 개발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PROCESS · 개발 여정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06  / 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리서치에서 배포까지,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6주간의 빠른 이터레이션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36573"/>
                </a:solidFill>
                <a:latin typeface="맑은 고딕"/>
              </a:rPr>
              <a:t>매주 금요일 데모와 회고를 고정. “다음 주에 무엇을 검증할 것인가”만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36573"/>
                </a:solidFill>
                <a:latin typeface="맑은 고딕"/>
              </a:rPr>
              <a:t>남기고 나머지는 과감히 버렸습니다.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0" y="4892040"/>
            <a:ext cx="10424160" cy="0"/>
          </a:xfrm>
          <a:prstGeom prst="line">
            <a:avLst/>
          </a:prstGeom>
          <a:ln w="12700">
            <a:solidFill>
              <a:srgbClr val="D2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691640" y="46177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2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828800" y="4754880"/>
            <a:ext cx="274320" cy="27432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5257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W1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5321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개념·리서치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85216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문제정의 · 유사앱 분석</a:t>
            </a:r>
          </a:p>
        </p:txBody>
      </p:sp>
      <p:sp>
        <p:nvSpPr>
          <p:cNvPr id="18" name="Oval 17"/>
          <p:cNvSpPr/>
          <p:nvPr/>
        </p:nvSpPr>
        <p:spPr>
          <a:xfrm>
            <a:off x="3429000" y="46177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2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566160" y="4754880"/>
            <a:ext cx="274320" cy="27432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88920" y="5257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W2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55321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스펙·정보구조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585216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IA · 핵심 사용자 시나리오</a:t>
            </a:r>
          </a:p>
        </p:txBody>
      </p:sp>
      <p:sp>
        <p:nvSpPr>
          <p:cNvPr id="23" name="Oval 22"/>
          <p:cNvSpPr/>
          <p:nvPr/>
        </p:nvSpPr>
        <p:spPr>
          <a:xfrm>
            <a:off x="5166360" y="46177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2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303520" y="4754880"/>
            <a:ext cx="274320" cy="27432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26280" y="5257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W3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55321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데이터·API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85216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공공데이터 키 발급, 구조 학습</a:t>
            </a:r>
          </a:p>
        </p:txBody>
      </p:sp>
      <p:sp>
        <p:nvSpPr>
          <p:cNvPr id="28" name="Oval 27"/>
          <p:cNvSpPr/>
          <p:nvPr/>
        </p:nvSpPr>
        <p:spPr>
          <a:xfrm>
            <a:off x="6903720" y="46177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2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040880" y="4754880"/>
            <a:ext cx="274320" cy="27432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5257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W4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5321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UI/UX 구현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585216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홈·검색·결과 흐름 제작</a:t>
            </a:r>
          </a:p>
        </p:txBody>
      </p:sp>
      <p:sp>
        <p:nvSpPr>
          <p:cNvPr id="33" name="Oval 32"/>
          <p:cNvSpPr/>
          <p:nvPr/>
        </p:nvSpPr>
        <p:spPr>
          <a:xfrm>
            <a:off x="8641080" y="46177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2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778240" y="4754880"/>
            <a:ext cx="274320" cy="27432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01000" y="5257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W5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55321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리포트·지도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585216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구급 리포트, 지도 핀</a:t>
            </a:r>
          </a:p>
        </p:txBody>
      </p:sp>
      <p:sp>
        <p:nvSpPr>
          <p:cNvPr id="38" name="Oval 37"/>
          <p:cNvSpPr/>
          <p:nvPr/>
        </p:nvSpPr>
        <p:spPr>
          <a:xfrm>
            <a:off x="10378440" y="46177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2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515600" y="4754880"/>
            <a:ext cx="274320" cy="27432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38360" y="5257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W6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60" y="55321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QA·배포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585216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테스트, 스토어 자산 준비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TECH STACK · 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07  / 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한 코드베이스,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웹에서 바로 쓰는 설치형 앱 (PWA)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36573"/>
                </a:solidFill>
                <a:latin typeface="맑은 고딕"/>
              </a:rPr>
              <a:t>앱스토어 게이트 없이 배포·업데이트가 가능한 PWA.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36573"/>
                </a:solidFill>
                <a:latin typeface="맑은 고딕"/>
              </a:rPr>
              <a:t>네이티브 경험을 위해 설치·알림·지도 권한까지 모두 연결했습니다.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2651760" cy="23317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32688" y="4133088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41330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53935"/>
                </a:solidFill>
                <a:latin typeface="맑은 고딕"/>
              </a:rPr>
              <a:t>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178808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Frontend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754880"/>
            <a:ext cx="91440" cy="9144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46634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Next.js 16 (App Router)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5047488"/>
            <a:ext cx="91440" cy="9144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20" y="49560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React 19</a:t>
            </a:r>
          </a:p>
        </p:txBody>
      </p:sp>
      <p:sp>
        <p:nvSpPr>
          <p:cNvPr id="20" name="Oval 19"/>
          <p:cNvSpPr/>
          <p:nvPr/>
        </p:nvSpPr>
        <p:spPr>
          <a:xfrm>
            <a:off x="1005840" y="5340096"/>
            <a:ext cx="91440" cy="9144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524865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TailwindCSS v4</a:t>
            </a:r>
          </a:p>
        </p:txBody>
      </p:sp>
      <p:sp>
        <p:nvSpPr>
          <p:cNvPr id="22" name="Oval 21"/>
          <p:cNvSpPr/>
          <p:nvPr/>
        </p:nvSpPr>
        <p:spPr>
          <a:xfrm>
            <a:off x="1005840" y="5632704"/>
            <a:ext cx="91440" cy="9144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88720" y="554126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Motion (Framer)</a:t>
            </a:r>
          </a:p>
        </p:txBody>
      </p:sp>
      <p:sp>
        <p:nvSpPr>
          <p:cNvPr id="24" name="Oval 23"/>
          <p:cNvSpPr/>
          <p:nvPr/>
        </p:nvSpPr>
        <p:spPr>
          <a:xfrm>
            <a:off x="1005840" y="5925312"/>
            <a:ext cx="91440" cy="9144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58338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Zustand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3931920"/>
            <a:ext cx="2651760" cy="23317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721608" y="4133088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21608" y="41330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53935"/>
                </a:solidFill>
                <a:latin typeface="맑은 고딕"/>
              </a:rPr>
              <a:t>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178808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Backend &amp; Auth</a:t>
            </a:r>
          </a:p>
        </p:txBody>
      </p:sp>
      <p:sp>
        <p:nvSpPr>
          <p:cNvPr id="30" name="Oval 29"/>
          <p:cNvSpPr/>
          <p:nvPr/>
        </p:nvSpPr>
        <p:spPr>
          <a:xfrm>
            <a:off x="3794760" y="4754880"/>
            <a:ext cx="91440" cy="9144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977640" y="46634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Supabase (Postgres, RLS)</a:t>
            </a:r>
          </a:p>
        </p:txBody>
      </p:sp>
      <p:sp>
        <p:nvSpPr>
          <p:cNvPr id="32" name="Oval 31"/>
          <p:cNvSpPr/>
          <p:nvPr/>
        </p:nvSpPr>
        <p:spPr>
          <a:xfrm>
            <a:off x="3794760" y="5047488"/>
            <a:ext cx="91440" cy="9144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77640" y="49560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Email + Google + Kakao OAuth</a:t>
            </a:r>
          </a:p>
        </p:txBody>
      </p:sp>
      <p:sp>
        <p:nvSpPr>
          <p:cNvPr id="34" name="Oval 33"/>
          <p:cNvSpPr/>
          <p:nvPr/>
        </p:nvSpPr>
        <p:spPr>
          <a:xfrm>
            <a:off x="3794760" y="5340096"/>
            <a:ext cx="91440" cy="9144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77640" y="524865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Row Level Security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3931920"/>
            <a:ext cx="2651760" cy="23317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510528" y="4133088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10528" y="41330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53935"/>
                </a:solidFill>
                <a:latin typeface="맑은 고딕"/>
              </a:rPr>
              <a:t>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4178808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Data Sources</a:t>
            </a:r>
          </a:p>
        </p:txBody>
      </p:sp>
      <p:sp>
        <p:nvSpPr>
          <p:cNvPr id="40" name="Oval 39"/>
          <p:cNvSpPr/>
          <p:nvPr/>
        </p:nvSpPr>
        <p:spPr>
          <a:xfrm>
            <a:off x="6583680" y="4754880"/>
            <a:ext cx="91440" cy="9144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66560" y="46634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공공데이터포털 — 응급의료정보 API</a:t>
            </a:r>
          </a:p>
        </p:txBody>
      </p:sp>
      <p:sp>
        <p:nvSpPr>
          <p:cNvPr id="42" name="Oval 41"/>
          <p:cNvSpPr/>
          <p:nvPr/>
        </p:nvSpPr>
        <p:spPr>
          <a:xfrm>
            <a:off x="6583680" y="5047488"/>
            <a:ext cx="91440" cy="9144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66560" y="49560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중앙응급의료센터 E-Gen</a:t>
            </a:r>
          </a:p>
        </p:txBody>
      </p:sp>
      <p:sp>
        <p:nvSpPr>
          <p:cNvPr id="44" name="Oval 43"/>
          <p:cNvSpPr/>
          <p:nvPr/>
        </p:nvSpPr>
        <p:spPr>
          <a:xfrm>
            <a:off x="6583680" y="5340096"/>
            <a:ext cx="91440" cy="9144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66560" y="524865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Naver Maps SDK / Directions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98280" y="3931920"/>
            <a:ext cx="2651760" cy="23317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299448" y="4133088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99448" y="41330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53935"/>
                </a:solidFill>
                <a:latin typeface="맑은 고딕"/>
              </a:rPr>
              <a:t>▣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0" y="4178808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Ops</a:t>
            </a:r>
          </a:p>
        </p:txBody>
      </p:sp>
      <p:sp>
        <p:nvSpPr>
          <p:cNvPr id="50" name="Oval 49"/>
          <p:cNvSpPr/>
          <p:nvPr/>
        </p:nvSpPr>
        <p:spPr>
          <a:xfrm>
            <a:off x="9372600" y="4754880"/>
            <a:ext cx="91440" cy="9144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555480" y="46634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Vercel 배포</a:t>
            </a:r>
          </a:p>
        </p:txBody>
      </p:sp>
      <p:sp>
        <p:nvSpPr>
          <p:cNvPr id="52" name="Oval 51"/>
          <p:cNvSpPr/>
          <p:nvPr/>
        </p:nvSpPr>
        <p:spPr>
          <a:xfrm>
            <a:off x="9372600" y="5047488"/>
            <a:ext cx="91440" cy="9144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555480" y="49560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PWA 설치 · 오프라인 쉘</a:t>
            </a:r>
          </a:p>
        </p:txBody>
      </p:sp>
      <p:sp>
        <p:nvSpPr>
          <p:cNvPr id="54" name="Oval 53"/>
          <p:cNvSpPr/>
          <p:nvPr/>
        </p:nvSpPr>
        <p:spPr>
          <a:xfrm>
            <a:off x="9372600" y="5340096"/>
            <a:ext cx="91440" cy="9144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555480" y="524865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Type-safe (TypeScript strict)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DATA SOURCES · 데이터 출처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08  / 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바로응급실은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공공 데이터 위에서 움직입니다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36573"/>
                </a:solidFill>
                <a:latin typeface="맑은 고딕"/>
              </a:rPr>
              <a:t>자체 수집이 아닌 국가 공식 API 를 실시간으로 참조합니다.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36573"/>
                </a:solidFill>
                <a:latin typeface="맑은 고딕"/>
              </a:rPr>
              <a:t>출처 표기와 지도 워터마크는 서비스 화면에 투명하게 노출됩니다.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94760"/>
            <a:ext cx="2697480" cy="178308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2697480" cy="54864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0120" y="402336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DC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023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0D9488"/>
                </a:solidFill>
                <a:latin typeface="맑은 고딕"/>
              </a:rPr>
              <a:t>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411480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DC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77440" y="4114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0D9488"/>
                </a:solidFill>
                <a:latin typeface="맑은 고딕"/>
              </a:rPr>
              <a:t>OpenAPI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70916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1218"/>
                </a:solidFill>
                <a:latin typeface="맑은 고딕"/>
              </a:rPr>
              <a:t>공공데이터포털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07492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data.go.kr — 응급의료정보 API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병상 · 운영시간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3794760"/>
            <a:ext cx="2697480" cy="178308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566160" y="3794760"/>
            <a:ext cx="2697480" cy="54864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794760" y="402336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DC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94760" y="4023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0D9488"/>
                </a:solidFill>
                <a:latin typeface="맑은 고딕"/>
              </a:rPr>
              <a:t>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80" y="411480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DC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12080" y="4114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0D9488"/>
                </a:solidFill>
                <a:latin typeface="맑은 고딕"/>
              </a:rPr>
              <a:t>Real-time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470916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1218"/>
                </a:solidFill>
                <a:latin typeface="맑은 고딕"/>
              </a:rPr>
              <a:t>E-Gen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507492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중앙응급의료센터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실시간 응급실 상태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794760"/>
            <a:ext cx="2697480" cy="178308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00800" y="3794760"/>
            <a:ext cx="2697480" cy="54864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629400" y="402336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DC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9400" y="4023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0D9488"/>
                </a:solidFill>
                <a:latin typeface="맑은 고딕"/>
              </a:rPr>
              <a:t>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411480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DC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20" y="4114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0D9488"/>
                </a:solidFill>
                <a:latin typeface="맑은 고딕"/>
              </a:rPr>
              <a:t>Reference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70916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1218"/>
                </a:solidFill>
                <a:latin typeface="맑은 고딕"/>
              </a:rPr>
              <a:t>보건복지부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507492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응급의료기관 지정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분류 체계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5440" y="3794760"/>
            <a:ext cx="2697480" cy="178308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235440" y="3794760"/>
            <a:ext cx="2697480" cy="54864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464040" y="402336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DC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64040" y="4023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0D9488"/>
                </a:solidFill>
                <a:latin typeface="맑은 고딕"/>
              </a:rPr>
              <a:t>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881360" y="411480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DC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881360" y="4114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0D9488"/>
                </a:solidFill>
                <a:latin typeface="맑은 고딕"/>
              </a:rPr>
              <a:t>Guideline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4040" y="470916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1218"/>
                </a:solidFill>
                <a:latin typeface="맑은 고딕"/>
              </a:rPr>
              <a:t>대한응급의학회 KTAS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64040" y="507492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Korean Triage and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Acuity Scale (1~5단계)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5760720"/>
            <a:ext cx="10972800" cy="502920"/>
          </a:xfrm>
          <a:prstGeom prst="roundRect">
            <a:avLst>
              <a:gd name="adj" fmla="val 12000"/>
            </a:avLst>
          </a:prstGeom>
          <a:solidFill>
            <a:srgbClr val="F4F4F7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05840" y="57607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법적 근거  ·  </a:t>
            </a:r>
            <a:r>
              <a:rPr sz="1100" b="0" i="0">
                <a:solidFill>
                  <a:srgbClr val="636573"/>
                </a:solidFill>
                <a:latin typeface="맑은 고딕"/>
              </a:rPr>
              <a:t>공공저작물 자유이용(저작권법 §24의2) 및 인용(§28) 범위 내에서 사용. 출처는 앱 홈 하단에 BI + 외부 링크로 명시.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CHALLENGES · 어려웠던 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09  / 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맑은 고딕"/>
              </a:rPr>
              <a:t>REALITY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01218"/>
                </a:solidFill>
                <a:latin typeface="맑은 고딕"/>
              </a:rPr>
              <a:t>가장 큰 복병은 코드가 아니라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603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E53935"/>
                </a:solidFill>
                <a:latin typeface="맑은 고딕"/>
              </a:rPr>
              <a:t>문서가 지금 이 순간 유효하지 않을 수 있다는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36573"/>
                </a:solidFill>
                <a:latin typeface="맑은 고딕"/>
              </a:rPr>
              <a:t>공공·민간 개발자 콘솔의 UI가 수시로 개편되어, 공식 가이드·블로그·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36573"/>
                </a:solidFill>
                <a:latin typeface="맑은 고딕"/>
              </a:rPr>
              <a:t>AI 답변 어느 것도 “지금 화면”과 일치하지 않는 경우가 많았습니다.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5394960" cy="11887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0120" y="4023359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02335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977639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API Key 발급 메뉴의 이동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297679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공공데이터포털의 ‘활용신청’ 위치가 상단/좌측/마이페이지 사이에서</a:t>
            </a:r>
          </a:p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개편 때마다 이동. 스크린샷 가이드가 곧바로 노후됨.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749039"/>
            <a:ext cx="5394960" cy="11887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37960" y="4023359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402335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977639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OAuth 리다이렉트 등록 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297679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카카오·네이버 개발자 센터의 앱 등록/키 노출 경로가 바뀌어,</a:t>
            </a:r>
          </a:p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같은 팀원 간에도 본 메뉴가 서로 다른 경우 발생.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074919"/>
            <a:ext cx="5394960" cy="11887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60120" y="5349239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534923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303519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AI 도우미의 시차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623559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학습 시점 이후의 콘솔 개편은 ChatGPT·Claude도 알지 못함.</a:t>
            </a:r>
          </a:p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첨부 스크린샷이 거의 필수.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5074919"/>
            <a:ext cx="5394960" cy="11887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537960" y="5349239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534923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5303519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응급 UX의 엄격함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5623559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일반 웹앱에서 ‘예쁘게 보이면’ 되는 상호작용이, 응급 UX에서는</a:t>
            </a:r>
          </a:p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‘3초 안에 작동’이라는 절대 기준을 통과해야 함.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COMPETITIVE LANDSCAPE · 경쟁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10  / 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이미 시장에는 좋은 앱들이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같은 문제, 다른 출발선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36573"/>
                </a:solidFill>
                <a:latin typeface="맑은 고딕"/>
              </a:rPr>
              <a:t>그러나 ‘가장 급한 순간의 사용자’에 집중된 UI는 여전히 부족합니다.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3794760"/>
          <a:ext cx="109728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8E91A0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E53935"/>
                          </a:solidFill>
                          <a:latin typeface="맑은 고딕"/>
                        </a:rPr>
                        <a:t>바로응급실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8E91A0"/>
                          </a:solidFill>
                          <a:latin typeface="맑은 고딕"/>
                        </a:rPr>
                        <a:t>응급똑똑 (보건복지부)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8E91A0"/>
                          </a:solidFill>
                          <a:latin typeface="맑은 고딕"/>
                        </a:rPr>
                        <a:t>E-GEN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01218"/>
                          </a:solidFill>
                          <a:latin typeface="맑은 고딕"/>
                        </a:rPr>
                        <a:t>포커스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3935"/>
                          </a:solidFill>
                          <a:latin typeface="맑은 고딕"/>
                        </a:rPr>
                        <a:t>응급실 검색 중심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636573"/>
                          </a:solidFill>
                          <a:latin typeface="맑은 고딕"/>
                        </a:rPr>
                        <a:t>종합 의료 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636573"/>
                          </a:solidFill>
                          <a:latin typeface="맑은 고딕"/>
                        </a:rPr>
                        <a:t>기관·통계 중심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01218"/>
                          </a:solidFill>
                          <a:latin typeface="맑은 고딕"/>
                        </a:rPr>
                        <a:t>UI 복잡도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3935"/>
                          </a:solidFill>
                          <a:latin typeface="맑은 고딕"/>
                        </a:rPr>
                        <a:t>매우 단순 (1~2탭 시작)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636573"/>
                          </a:solidFill>
                          <a:latin typeface="맑은 고딕"/>
                        </a:rPr>
                        <a:t>중간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636573"/>
                          </a:solidFill>
                          <a:latin typeface="맑은 고딕"/>
                        </a:rPr>
                        <a:t>높음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01218"/>
                          </a:solidFill>
                          <a:latin typeface="맑은 고딕"/>
                        </a:rPr>
                        <a:t>입력 방식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3935"/>
                          </a:solidFill>
                          <a:latin typeface="맑은 고딕"/>
                        </a:rPr>
                        <a:t>클릭 칩 + 음성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636573"/>
                          </a:solidFill>
                          <a:latin typeface="맑은 고딕"/>
                        </a:rPr>
                        <a:t>텍스트·폼 위주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636573"/>
                          </a:solidFill>
                          <a:latin typeface="맑은 고딕"/>
                        </a:rPr>
                        <a:t>검색·필터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01218"/>
                          </a:solidFill>
                          <a:latin typeface="맑은 고딕"/>
                        </a:rPr>
                        <a:t>KTAS 가이드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3935"/>
                          </a:solidFill>
                          <a:latin typeface="맑은 고딕"/>
                        </a:rPr>
                        <a:t>참고 표시 + 응급처치 요령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636573"/>
                          </a:solidFill>
                          <a:latin typeface="맑은 고딕"/>
                        </a:rPr>
                        <a:t>부분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636573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01218"/>
                          </a:solidFill>
                          <a:latin typeface="맑은 고딕"/>
                        </a:rPr>
                        <a:t>길안내 연동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3935"/>
                          </a:solidFill>
                          <a:latin typeface="맑은 고딕"/>
                        </a:rPr>
                        <a:t>원탭 (네이버·카카오·티맵)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636573"/>
                          </a:solidFill>
                          <a:latin typeface="맑은 고딕"/>
                        </a:rPr>
                        <a:t>기본 지도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636573"/>
                          </a:solidFill>
                          <a:latin typeface="맑은 고딕"/>
                        </a:rPr>
                        <a:t>지도 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01218"/>
                          </a:solidFill>
                          <a:latin typeface="맑은 고딕"/>
                        </a:rPr>
                        <a:t>구급대원 모드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3935"/>
                          </a:solidFill>
                          <a:latin typeface="맑은 고딕"/>
                        </a:rPr>
                        <a:t>내장 (리포트 작성·검색)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636573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636573"/>
                          </a:solidFill>
                          <a:latin typeface="맑은 고딕"/>
                        </a:rPr>
                        <a:t>별도 도구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01218"/>
                          </a:solidFill>
                          <a:latin typeface="맑은 고딕"/>
                        </a:rPr>
                        <a:t>타깃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3935"/>
                          </a:solidFill>
                          <a:latin typeface="맑은 고딕"/>
                        </a:rPr>
                        <a:t>일반 + 구급대원 겸용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636573"/>
                          </a:solidFill>
                          <a:latin typeface="맑은 고딕"/>
                        </a:rPr>
                        <a:t>일반인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636573"/>
                          </a:solidFill>
                          <a:latin typeface="맑은 고딕"/>
                        </a:rPr>
                        <a:t>전문가·통계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DIFFERENTIATORS · 차별성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11  / 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우리가 다른 이유,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4가지 결정적 차이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0120" y="3657600"/>
            <a:ext cx="822960" cy="822960"/>
          </a:xfrm>
          <a:prstGeom prst="roundRect">
            <a:avLst>
              <a:gd name="adj" fmla="val 25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6576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65760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01218"/>
                </a:solidFill>
                <a:latin typeface="맑은 고딕"/>
              </a:rPr>
              <a:t>거의 텍스트 입력이 없다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114800"/>
            <a:ext cx="4023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응급 상황에서 키보드는 장벽. 증상/연령은 클릭 칩,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상황 설명은 음성으로 입력.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38328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37960" y="3657600"/>
            <a:ext cx="822960" cy="822960"/>
          </a:xfrm>
          <a:prstGeom prst="roundRect">
            <a:avLst>
              <a:gd name="adj" fmla="val 25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36576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365760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01218"/>
                </a:solidFill>
                <a:latin typeface="맑은 고딕"/>
              </a:rPr>
              <a:t>응급실에 집중된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4114800"/>
            <a:ext cx="4023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병원·치과·약국을 섞어 보여주지 않음. 첫 화면부터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‘ER 한 가지’에 맞춰 정보량 최소화.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3776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60120" y="5212080"/>
            <a:ext cx="822960" cy="822960"/>
          </a:xfrm>
          <a:prstGeom prst="roundRect">
            <a:avLst>
              <a:gd name="adj" fmla="val 25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2120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521208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01218"/>
                </a:solidFill>
                <a:latin typeface="맑은 고딕"/>
              </a:rPr>
              <a:t>구급대원까지 한 앱에서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669280"/>
            <a:ext cx="4023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현장 구급대원은 동일 앱에서 리포트 작성·저장·검색이 가능.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별도 도구 전환 없음.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93776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37960" y="5212080"/>
            <a:ext cx="822960" cy="822960"/>
          </a:xfrm>
          <a:prstGeom prst="roundRect">
            <a:avLst>
              <a:gd name="adj" fmla="val 25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52120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521208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01218"/>
                </a:solidFill>
                <a:latin typeface="맑은 고딕"/>
              </a:rPr>
              <a:t>원탭 길안내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5669280"/>
            <a:ext cx="4023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네이버/카카오/티맵 중 내 기본 앱으로 곧장 시작.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처음 선택 후 재선택 불필요.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PARAMEDIC MODE · 구급대원 모드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12  / 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맑은 고딕"/>
              </a:rPr>
              <a:t>FOR FIRST RESPONDERS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01218"/>
                </a:solidFill>
                <a:latin typeface="맑은 고딕"/>
              </a:rPr>
              <a:t>구급대원의 손끝에서 바뀌는 흐름,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E53935"/>
                </a:solidFill>
                <a:latin typeface="맑은 고딕"/>
              </a:rPr>
              <a:t>수기 노트에서 구조화된 기록으로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36573"/>
                </a:solidFill>
                <a:latin typeface="맑은 고딕"/>
              </a:rPr>
              <a:t>이송 중 입력은 최소, 도착 직후 확정.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36573"/>
                </a:solidFill>
                <a:latin typeface="맑은 고딕"/>
              </a:rPr>
              <a:t>이후에는 이름·출동번호로 즉시 검색 가능합니다.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279392"/>
            <a:ext cx="137160" cy="13716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2062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01218"/>
                </a:solidFill>
                <a:latin typeface="맑은 고딕"/>
              </a:rPr>
              <a:t>환자 기본정보 · KTAS · 증상 · 처치 · 이송병원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645152"/>
            <a:ext cx="137160" cy="13716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5720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01218"/>
                </a:solidFill>
                <a:latin typeface="맑은 고딕"/>
              </a:rPr>
              <a:t>리포트 ID 자동 채번, 이름·번호 풀텍스트 검색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5010912"/>
            <a:ext cx="137160" cy="13716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9377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01218"/>
                </a:solidFill>
                <a:latin typeface="맑은 고딕"/>
              </a:rPr>
              <a:t>소속 인증 시 기관 클라우드로 안전 동기화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5376672"/>
            <a:ext cx="137160" cy="13716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53035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01218"/>
                </a:solidFill>
                <a:latin typeface="맑은 고딕"/>
              </a:rPr>
              <a:t>PDF 출력 · 내부 공유 양식 지원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806440"/>
            <a:ext cx="6858000" cy="457200"/>
          </a:xfrm>
          <a:prstGeom prst="roundRect">
            <a:avLst>
              <a:gd name="adj" fmla="val 15000"/>
            </a:avLst>
          </a:prstGeom>
          <a:solidFill>
            <a:srgbClr val="DCFCF7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80644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0D9488"/>
                </a:solidFill>
                <a:latin typeface="맑은 고딕"/>
              </a:rPr>
              <a:t>NOTE  ·  </a:t>
            </a:r>
            <a:r>
              <a:rPr sz="1100" b="0" i="0">
                <a:solidFill>
                  <a:srgbClr val="101218"/>
                </a:solidFill>
                <a:latin typeface="맑은 고딕"/>
              </a:rPr>
              <a:t>일반 사용자에게는 이 기능이 숨겨지거나 안내 문구로 대체됩니다.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417320"/>
            <a:ext cx="329184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412480" y="1600200"/>
            <a:ext cx="2926080" cy="457200"/>
          </a:xfrm>
          <a:prstGeom prst="roundRect">
            <a:avLst>
              <a:gd name="adj" fmla="val 15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16002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53935"/>
                </a:solidFill>
                <a:latin typeface="맑은 고딕"/>
              </a:rPr>
              <a:t>구급 리포트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2331720"/>
            <a:ext cx="2926080" cy="685800"/>
          </a:xfrm>
          <a:prstGeom prst="roundRect">
            <a:avLst>
              <a:gd name="adj" fmla="val 10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549640" y="24963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49640" y="24963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24231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218"/>
                </a:solidFill>
                <a:latin typeface="맑은 고딕"/>
              </a:rPr>
              <a:t>김**, 남 58  ·  D-2041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67919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36573"/>
                </a:solidFill>
                <a:latin typeface="맑은 고딕"/>
              </a:rPr>
              <a:t>급성 흉통 · 세브란스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0" y="3108960"/>
            <a:ext cx="2926080" cy="685800"/>
          </a:xfrm>
          <a:prstGeom prst="roundRect">
            <a:avLst>
              <a:gd name="adj" fmla="val 10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549640" y="327355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9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49640" y="327355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32004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218"/>
                </a:solidFill>
                <a:latin typeface="맑은 고딕"/>
              </a:rPr>
              <a:t>이**, 여 41  ·  D-2040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345643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36573"/>
                </a:solidFill>
                <a:latin typeface="맑은 고딕"/>
              </a:rPr>
              <a:t>복통 · 서울대병원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0" y="3886200"/>
            <a:ext cx="2926080" cy="685800"/>
          </a:xfrm>
          <a:prstGeom prst="roundRect">
            <a:avLst>
              <a:gd name="adj" fmla="val 10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549640" y="405079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06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49640" y="405079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39776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1218"/>
                </a:solidFill>
                <a:latin typeface="맑은 고딕"/>
              </a:rPr>
              <a:t>박**, 남 72  ·  D-2039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423367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36573"/>
                </a:solidFill>
                <a:latin typeface="맑은 고딕"/>
              </a:rPr>
              <a:t>심정지 · 삼성서울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95360" y="5440680"/>
            <a:ext cx="2560320" cy="502920"/>
          </a:xfrm>
          <a:prstGeom prst="roundRect">
            <a:avLst>
              <a:gd name="adj" fmla="val 35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95360" y="544068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＋  새 리포트 작성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9432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PRODUCT · 주요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13  / 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설명보다,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직접 보여드리는 흐름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68680" y="31546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1546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증상 평가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703320"/>
            <a:ext cx="2103120" cy="256032"/>
          </a:xfrm>
          <a:prstGeom prst="roundRect">
            <a:avLst>
              <a:gd name="adj" fmla="val 12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5840" y="4050792"/>
            <a:ext cx="2103120" cy="256032"/>
          </a:xfrm>
          <a:prstGeom prst="roundRect">
            <a:avLst>
              <a:gd name="adj" fmla="val 12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5840" y="4398264"/>
            <a:ext cx="2103120" cy="256032"/>
          </a:xfrm>
          <a:prstGeom prst="roundRect">
            <a:avLst>
              <a:gd name="adj" fmla="val 12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5840" y="4745736"/>
            <a:ext cx="2103120" cy="256032"/>
          </a:xfrm>
          <a:prstGeom prst="roundRect">
            <a:avLst>
              <a:gd name="adj" fmla="val 12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5840" y="5093208"/>
            <a:ext cx="2103120" cy="256032"/>
          </a:xfrm>
          <a:prstGeom prst="roundRect">
            <a:avLst>
              <a:gd name="adj" fmla="val 12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62356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증상 평가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KTAS · 응급처치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301752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657600" y="31546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0" y="31546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결과 · 리스트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3703320"/>
            <a:ext cx="2103120" cy="256032"/>
          </a:xfrm>
          <a:prstGeom prst="roundRect">
            <a:avLst>
              <a:gd name="adj" fmla="val 12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794760" y="4050792"/>
            <a:ext cx="2103120" cy="256032"/>
          </a:xfrm>
          <a:prstGeom prst="roundRect">
            <a:avLst>
              <a:gd name="adj" fmla="val 12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794760" y="4398264"/>
            <a:ext cx="2103120" cy="256032"/>
          </a:xfrm>
          <a:prstGeom prst="roundRect">
            <a:avLst>
              <a:gd name="adj" fmla="val 12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794760" y="4745736"/>
            <a:ext cx="2103120" cy="256032"/>
          </a:xfrm>
          <a:prstGeom prst="roundRect">
            <a:avLst>
              <a:gd name="adj" fmla="val 12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794760" y="5093208"/>
            <a:ext cx="2103120" cy="256032"/>
          </a:xfrm>
          <a:prstGeom prst="roundRect">
            <a:avLst>
              <a:gd name="adj" fmla="val 12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20440" y="562356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결과 · 리스트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589788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정렬 · 반경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01752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46520" y="31546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31546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결과 · 지도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3703320"/>
            <a:ext cx="2103120" cy="256032"/>
          </a:xfrm>
          <a:prstGeom prst="roundRect">
            <a:avLst>
              <a:gd name="adj" fmla="val 12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583680" y="4050792"/>
            <a:ext cx="2103120" cy="256032"/>
          </a:xfrm>
          <a:prstGeom prst="roundRect">
            <a:avLst>
              <a:gd name="adj" fmla="val 12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583680" y="4398264"/>
            <a:ext cx="2103120" cy="256032"/>
          </a:xfrm>
          <a:prstGeom prst="roundRect">
            <a:avLst>
              <a:gd name="adj" fmla="val 12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583680" y="4745736"/>
            <a:ext cx="2103120" cy="256032"/>
          </a:xfrm>
          <a:prstGeom prst="roundRect">
            <a:avLst>
              <a:gd name="adj" fmla="val 12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583680" y="5093208"/>
            <a:ext cx="2103120" cy="256032"/>
          </a:xfrm>
          <a:prstGeom prst="roundRect">
            <a:avLst>
              <a:gd name="adj" fmla="val 12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09360" y="562356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결과 · 지도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89788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3색 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98280" y="301752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235440" y="31546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9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35440" y="31546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길안내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72600" y="3703320"/>
            <a:ext cx="2103120" cy="256032"/>
          </a:xfrm>
          <a:prstGeom prst="roundRect">
            <a:avLst>
              <a:gd name="adj" fmla="val 12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372600" y="4050792"/>
            <a:ext cx="2103120" cy="256032"/>
          </a:xfrm>
          <a:prstGeom prst="roundRect">
            <a:avLst>
              <a:gd name="adj" fmla="val 12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9372600" y="4398264"/>
            <a:ext cx="2103120" cy="256032"/>
          </a:xfrm>
          <a:prstGeom prst="roundRect">
            <a:avLst>
              <a:gd name="adj" fmla="val 12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372600" y="4745736"/>
            <a:ext cx="2103120" cy="256032"/>
          </a:xfrm>
          <a:prstGeom prst="roundRect">
            <a:avLst>
              <a:gd name="adj" fmla="val 12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9372600" y="5093208"/>
            <a:ext cx="2103120" cy="256032"/>
          </a:xfrm>
          <a:prstGeom prst="roundRect">
            <a:avLst>
              <a:gd name="adj" fmla="val 12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098280" y="562356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길안내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589788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원탭 · 내비 연동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RELEASE · GOOGLE 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14  / 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맑은 고딕"/>
              </a:rPr>
              <a:t>PLAY CONSOLE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01218"/>
                </a:solidFill>
                <a:latin typeface="맑은 고딕"/>
              </a:rPr>
              <a:t>구글 스토어 등록,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E53935"/>
                </a:solidFill>
                <a:latin typeface="맑은 고딕"/>
              </a:rPr>
              <a:t>심사를 한 번에 통과하는 체크리스트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의료 카테고리 앱은 일반 앱보다 심사 기준이 엄격합니다.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아래 8개 항목을 제출 전 사전 점검합니다.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" y="429768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297680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1218"/>
                </a:solidFill>
                <a:latin typeface="맑은 고딕"/>
              </a:rPr>
              <a:t>개발자 계정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61772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636573"/>
                </a:solidFill>
                <a:latin typeface="맑은 고딕"/>
              </a:rPr>
              <a:t>1회 $25 · 조직 계정 추천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411480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749040" y="429768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9040" y="42976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297680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1218"/>
                </a:solidFill>
                <a:latin typeface="맑은 고딕"/>
              </a:rPr>
              <a:t>앱 번들(AAB) 빌드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61772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636573"/>
                </a:solidFill>
                <a:latin typeface="맑은 고딕"/>
              </a:rPr>
              <a:t>PWA → TWA 또는 Capacitor 래핑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11480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83680" y="429768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42976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297680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1218"/>
                </a:solidFill>
                <a:latin typeface="맑은 고딕"/>
              </a:rPr>
              <a:t>개인정보처리방침 URL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61772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636573"/>
                </a:solidFill>
                <a:latin typeface="맑은 고딕"/>
              </a:rPr>
              <a:t>위치·건강 데이터 수집 항목 명시 필수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411480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418320" y="429768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18320" y="42976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297680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1218"/>
                </a:solidFill>
                <a:latin typeface="맑은 고딕"/>
              </a:rPr>
              <a:t>Data Safety 섹션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461772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636573"/>
                </a:solidFill>
                <a:latin typeface="맑은 고딕"/>
              </a:rPr>
              <a:t>의료 정보 민감 카테고리 체크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230368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14400" y="541324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541324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5413248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1218"/>
                </a:solidFill>
                <a:latin typeface="맑은 고딕"/>
              </a:rPr>
              <a:t>Content Rating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5733288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636573"/>
                </a:solidFill>
                <a:latin typeface="맑은 고딕"/>
              </a:rPr>
              <a:t>의료 정보 · 실생활 위치 카테고리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66160" y="5230368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749040" y="541324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749040" y="541324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5413248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1218"/>
                </a:solidFill>
                <a:latin typeface="맑은 고딕"/>
              </a:rPr>
              <a:t>그래픽 자산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5733288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636573"/>
                </a:solidFill>
                <a:latin typeface="맑은 고딕"/>
              </a:rPr>
              <a:t>아이콘 512px · 피처그래픽 1024×500 · 스샷 4~8장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5230368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583680" y="541324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83680" y="541324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5413248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1218"/>
                </a:solidFill>
                <a:latin typeface="맑은 고딕"/>
              </a:rPr>
              <a:t>스토어 등록정보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5733288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636573"/>
                </a:solidFill>
                <a:latin typeface="맑은 고딕"/>
              </a:rPr>
              <a:t>제목 30자 / 짧은 설명 80자 / 긴 설명 4000자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35440" y="5230368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9418320" y="541324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418320" y="541324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5413248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1218"/>
                </a:solidFill>
                <a:latin typeface="맑은 고딕"/>
              </a:rPr>
              <a:t>단계적 출시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5733288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636573"/>
                </a:solidFill>
                <a:latin typeface="맑은 고딕"/>
              </a:rPr>
              <a:t>Internal → Closed → Open → Production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ASO · STORE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15  / 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스토어에서 클릭을 받는 건 결국,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3초 안에 ‘바로 다운’을 만드는 카피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36573"/>
                </a:solidFill>
                <a:latin typeface="맑은 고딕"/>
              </a:rPr>
              <a:t>스토어 첫 화면 3초 안에 “무엇을 해 주는 앱인지”가 이해되면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36573"/>
                </a:solidFill>
                <a:latin typeface="맑은 고딕"/>
              </a:rPr>
              <a:t>다운로드 전환율이 크게 올라갑니다.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5394960" cy="219456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38912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제목 (30자)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01218"/>
                </a:solidFill>
                <a:latin typeface="맑은 고딕"/>
              </a:rPr>
              <a:t>바로응급실 — 실시간 가까운 응급실 찾기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120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짧은 설명 (80자)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5532120"/>
            <a:ext cx="4846320" cy="731520"/>
          </a:xfrm>
          <a:prstGeom prst="roundRect">
            <a:avLst>
              <a:gd name="adj" fmla="val 10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553212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“골든타임을 지키는 가장 빠른 응급실 안내.</a:t>
            </a:r>
          </a:p>
          <a:p>
            <a:pPr algn="l">
              <a:lnSpc>
                <a:spcPct val="145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실시간 병상 · 원탭 길안내까지.”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206240"/>
            <a:ext cx="5394960" cy="219456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438912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핵심 키워드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70916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47091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맑은 고딕"/>
              </a:rPr>
              <a:t>응급실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14032" y="470916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14032" y="47091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맑은 고딕"/>
              </a:rPr>
              <a:t>119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44384" y="4709160"/>
            <a:ext cx="329184" cy="274320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44384" y="4709160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맑은 고딕"/>
              </a:rPr>
              <a:t>병상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70916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0" y="47091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맑은 고딕"/>
              </a:rPr>
              <a:t>실시간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77072" y="470916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77072" y="47091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맑은 고딕"/>
              </a:rPr>
              <a:t>길안내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07424" y="470916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07424" y="4709160"/>
            <a:ext cx="58521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맑은 고딕"/>
              </a:rPr>
              <a:t>응급처치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65792" y="470916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65792" y="4709160"/>
            <a:ext cx="58521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맑은 고딕"/>
              </a:rPr>
              <a:t>KTAS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24160" y="4709160"/>
            <a:ext cx="329184" cy="274320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424160" y="4709160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맑은 고딕"/>
              </a:rPr>
              <a:t>구급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826496" y="4709160"/>
            <a:ext cx="329184" cy="274320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826496" y="4709160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맑은 고딕"/>
              </a:rPr>
              <a:t>의료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5056632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0" y="5056632"/>
            <a:ext cx="58521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맑은 고딕"/>
              </a:rPr>
              <a:t>골든타임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42048" y="5056632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42048" y="5056632"/>
            <a:ext cx="9692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맑은 고딕"/>
              </a:rPr>
              <a:t>가까운 응급실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84464" y="5056632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84464" y="5056632"/>
            <a:ext cx="58521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맑은 고딕"/>
              </a:rPr>
              <a:t>응급의료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6235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후킹 카피 (A/B 후보)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8978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01218"/>
                </a:solidFill>
                <a:latin typeface="맑은 고딕"/>
              </a:rPr>
              <a:t>• “그 순간, 1초가 생명이 됩니다”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617220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01218"/>
                </a:solidFill>
                <a:latin typeface="맑은 고딕"/>
              </a:rPr>
              <a:t>• “눌러서 시작. 근처 응급실 바로 연결”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GO-TO-MARKET · 마케팅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16  / 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단일 채널이 아니라,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‘일반’과 ‘전문’ 두 채널을 동시에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36573"/>
                </a:solidFill>
                <a:latin typeface="맑은 고딕"/>
              </a:rPr>
              <a:t>일반 사용자는 숏폼·검색광고, 전문가는 협회·기관 제휴로 접근합니다.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36573"/>
                </a:solidFill>
                <a:latin typeface="맑은 고딕"/>
              </a:rPr>
              <a:t>같은 앱을 두 각도에서 노출.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394960" cy="219456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53935"/>
                </a:solidFill>
                <a:latin typeface="맑은 고딕"/>
              </a:rPr>
              <a:t>●  </a:t>
            </a:r>
            <a:r>
              <a:rPr sz="1300" b="1" i="0">
                <a:solidFill>
                  <a:srgbClr val="E53935"/>
                </a:solidFill>
                <a:latin typeface="맑은 고딕"/>
              </a:rPr>
              <a:t>일반 사용자 채널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·  네이버/구글 검색광고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93776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‘응급실’·‘가까운 응급실’ 지역 키워드 매칭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120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·  숏폼(쇼츠/릴스)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44068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‘이런 증상이면 즉시 119’ · 30초 응급처치 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71500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·  언론 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94360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‘응급실 뺑뺑이’ 이슈에 맞춰 솔루션 기사 피치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114800"/>
            <a:ext cx="5394960" cy="219456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42976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D9488"/>
                </a:solidFill>
                <a:latin typeface="맑은 고딕"/>
              </a:rPr>
              <a:t>●  </a:t>
            </a:r>
            <a:r>
              <a:rPr sz="1300" b="1" i="0">
                <a:solidFill>
                  <a:srgbClr val="0D9488"/>
                </a:solidFill>
                <a:latin typeface="맑은 고딕"/>
              </a:rPr>
              <a:t>전문가 · 기관 채널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7091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·  지역 소방서 · 119 안전센터 제휴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93776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QR 포스터 · 구급대원 리포트 기능 설명회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2120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·  의과대 · 간호학과 · 응급구조학과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44068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수업 자료 · 실습용 레퍼런스 제공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71500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·  대한응급의학회 협력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594360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KTAS 가이드 표시 정합성 공동 검토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ROADMAP ·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17  / 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오늘이 끝이 아니라,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MVP 이후 진짜 여정이 시작됩니다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2697480" cy="288036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2697480" cy="73152"/>
          </a:xfrm>
          <a:prstGeom prst="roundRect">
            <a:avLst>
              <a:gd name="adj" fmla="val 3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0120" y="3657600"/>
            <a:ext cx="182880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6576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맑은 고딕"/>
              </a:rPr>
              <a:t>v1.0 ·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6052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01218"/>
                </a:solidFill>
                <a:latin typeface="맑은 고딕"/>
              </a:rPr>
              <a:t>MVP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800600"/>
            <a:ext cx="109728" cy="109728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47091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응급실 검색·지도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5120640"/>
            <a:ext cx="109728" cy="109728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50292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KTAS 참고</a:t>
            </a:r>
          </a:p>
        </p:txBody>
      </p:sp>
      <p:sp>
        <p:nvSpPr>
          <p:cNvPr id="20" name="Oval 19"/>
          <p:cNvSpPr/>
          <p:nvPr/>
        </p:nvSpPr>
        <p:spPr>
          <a:xfrm>
            <a:off x="1005840" y="5440680"/>
            <a:ext cx="109728" cy="109728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534924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길안내</a:t>
            </a:r>
          </a:p>
        </p:txBody>
      </p:sp>
      <p:sp>
        <p:nvSpPr>
          <p:cNvPr id="22" name="Oval 21"/>
          <p:cNvSpPr/>
          <p:nvPr/>
        </p:nvSpPr>
        <p:spPr>
          <a:xfrm>
            <a:off x="1005840" y="5760720"/>
            <a:ext cx="109728" cy="109728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34440" y="566928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구급 리포트 로컬 저장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3383280"/>
            <a:ext cx="2697480" cy="288036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566160" y="3383280"/>
            <a:ext cx="2697480" cy="73152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794760" y="3657600"/>
            <a:ext cx="182880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94760" y="36576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0D9488"/>
                </a:solidFill>
                <a:latin typeface="맑은 고딕"/>
              </a:rPr>
              <a:t>v1.5 · Q+1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16052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01218"/>
                </a:solidFill>
                <a:latin typeface="맑은 고딕"/>
              </a:rPr>
              <a:t>Voice &amp; i18n</a:t>
            </a:r>
          </a:p>
        </p:txBody>
      </p:sp>
      <p:sp>
        <p:nvSpPr>
          <p:cNvPr id="29" name="Oval 28"/>
          <p:cNvSpPr/>
          <p:nvPr/>
        </p:nvSpPr>
        <p:spPr>
          <a:xfrm>
            <a:off x="3840480" y="4800600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69080" y="47091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한국어 음성 인식 고도화</a:t>
            </a:r>
          </a:p>
        </p:txBody>
      </p:sp>
      <p:sp>
        <p:nvSpPr>
          <p:cNvPr id="31" name="Oval 30"/>
          <p:cNvSpPr/>
          <p:nvPr/>
        </p:nvSpPr>
        <p:spPr>
          <a:xfrm>
            <a:off x="3840480" y="5120640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69080" y="50292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영·일·중 완전 지원</a:t>
            </a:r>
          </a:p>
        </p:txBody>
      </p:sp>
      <p:sp>
        <p:nvSpPr>
          <p:cNvPr id="33" name="Oval 32"/>
          <p:cNvSpPr/>
          <p:nvPr/>
        </p:nvSpPr>
        <p:spPr>
          <a:xfrm>
            <a:off x="3840480" y="5440680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69080" y="534924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접근성(VoiceOver) 강화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383280"/>
            <a:ext cx="2697480" cy="288036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400800" y="3383280"/>
            <a:ext cx="2697480" cy="73152"/>
          </a:xfrm>
          <a:prstGeom prst="roundRect">
            <a:avLst>
              <a:gd name="adj" fmla="val 30000"/>
            </a:avLst>
          </a:prstGeom>
          <a:solidFill>
            <a:srgbClr val="F9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629400" y="3657600"/>
            <a:ext cx="182880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973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29400" y="36576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97322"/>
                </a:solidFill>
                <a:latin typeface="맑은 고딕"/>
              </a:rPr>
              <a:t>v2.0 · Q+2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416052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01218"/>
                </a:solidFill>
                <a:latin typeface="맑은 고딕"/>
              </a:rPr>
              <a:t>Org Sync</a:t>
            </a:r>
          </a:p>
        </p:txBody>
      </p:sp>
      <p:sp>
        <p:nvSpPr>
          <p:cNvPr id="40" name="Oval 39"/>
          <p:cNvSpPr/>
          <p:nvPr/>
        </p:nvSpPr>
        <p:spPr>
          <a:xfrm>
            <a:off x="6675120" y="4800600"/>
            <a:ext cx="109728" cy="109728"/>
          </a:xfrm>
          <a:prstGeom prst="ellipse">
            <a:avLst/>
          </a:prstGeom>
          <a:solidFill>
            <a:srgbClr val="F9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03720" y="47091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소속 기관 SSO</a:t>
            </a:r>
          </a:p>
        </p:txBody>
      </p:sp>
      <p:sp>
        <p:nvSpPr>
          <p:cNvPr id="42" name="Oval 41"/>
          <p:cNvSpPr/>
          <p:nvPr/>
        </p:nvSpPr>
        <p:spPr>
          <a:xfrm>
            <a:off x="6675120" y="5120640"/>
            <a:ext cx="109728" cy="109728"/>
          </a:xfrm>
          <a:prstGeom prst="ellipse">
            <a:avLst/>
          </a:prstGeom>
          <a:solidFill>
            <a:srgbClr val="F9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03720" y="50292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클라우드 리포트 동기화</a:t>
            </a:r>
          </a:p>
        </p:txBody>
      </p:sp>
      <p:sp>
        <p:nvSpPr>
          <p:cNvPr id="44" name="Oval 43"/>
          <p:cNvSpPr/>
          <p:nvPr/>
        </p:nvSpPr>
        <p:spPr>
          <a:xfrm>
            <a:off x="6675120" y="5440680"/>
            <a:ext cx="109728" cy="109728"/>
          </a:xfrm>
          <a:prstGeom prst="ellipse">
            <a:avLst/>
          </a:prstGeom>
          <a:solidFill>
            <a:srgbClr val="F9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03720" y="534924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관리자 대시보드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35440" y="3383280"/>
            <a:ext cx="2697480" cy="288036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235440" y="3383280"/>
            <a:ext cx="2697480" cy="73152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9464040" y="3657600"/>
            <a:ext cx="182880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64040" y="36576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22C55E"/>
                </a:solidFill>
                <a:latin typeface="맑은 고딕"/>
              </a:rPr>
              <a:t>v3.0 · Future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64040" y="416052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01218"/>
                </a:solidFill>
                <a:latin typeface="맑은 고딕"/>
              </a:rPr>
              <a:t>AI Triage</a:t>
            </a:r>
          </a:p>
        </p:txBody>
      </p:sp>
      <p:sp>
        <p:nvSpPr>
          <p:cNvPr id="51" name="Oval 50"/>
          <p:cNvSpPr/>
          <p:nvPr/>
        </p:nvSpPr>
        <p:spPr>
          <a:xfrm>
            <a:off x="9509760" y="480060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738360" y="47091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증상 → KTAS 추정 모델</a:t>
            </a:r>
          </a:p>
        </p:txBody>
      </p:sp>
      <p:sp>
        <p:nvSpPr>
          <p:cNvPr id="53" name="Oval 52"/>
          <p:cNvSpPr/>
          <p:nvPr/>
        </p:nvSpPr>
        <p:spPr>
          <a:xfrm>
            <a:off x="9509760" y="512064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738360" y="50292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이송 경로 예측</a:t>
            </a:r>
          </a:p>
        </p:txBody>
      </p:sp>
      <p:sp>
        <p:nvSpPr>
          <p:cNvPr id="55" name="Oval 54"/>
          <p:cNvSpPr/>
          <p:nvPr/>
        </p:nvSpPr>
        <p:spPr>
          <a:xfrm>
            <a:off x="9509760" y="544068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738360" y="534924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응급실 혼잡도 예측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DC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502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8E91A0"/>
                </a:solidFill>
                <a:latin typeface="Segoe UI"/>
              </a:rPr>
              <a:t>End of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E53935"/>
                </a:solidFill>
                <a:latin typeface="맑은 고딕"/>
              </a:rPr>
              <a:t>LET’S 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11155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6000" b="1" i="0">
                <a:solidFill>
                  <a:srgbClr val="101218"/>
                </a:solidFill>
                <a:latin typeface="맑은 고딕"/>
              </a:rPr>
              <a:t>응급실이 필요할 때,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1155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6000" b="1" i="0">
                <a:solidFill>
                  <a:srgbClr val="E53935"/>
                </a:solidFill>
                <a:latin typeface="맑은 고딕"/>
              </a:rPr>
              <a:t>바로 연결해 드릴게요.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 i="0">
                <a:solidFill>
                  <a:srgbClr val="636573"/>
                </a:solidFill>
                <a:latin typeface="맑은 고딕"/>
              </a:rPr>
              <a:t>피드백·협업·파트너십 제안은 언제든 환영합니다.</a:t>
            </a:r>
          </a:p>
          <a:p>
            <a:pPr algn="l">
              <a:lnSpc>
                <a:spcPct val="155000"/>
              </a:lnSpc>
            </a:pPr>
            <a:r>
              <a:rPr sz="1600" b="0" i="0">
                <a:solidFill>
                  <a:srgbClr val="636573"/>
                </a:solidFill>
                <a:latin typeface="맑은 고딕"/>
              </a:rPr>
              <a:t>감사합니다.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943600"/>
            <a:ext cx="11155680" cy="502920"/>
          </a:xfrm>
          <a:prstGeom prst="roundRect">
            <a:avLst>
              <a:gd name="adj" fmla="val 30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6086280"/>
            <a:ext cx="10972800" cy="217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dirty="0">
                <a:solidFill>
                  <a:srgbClr val="101218"/>
                </a:solidFill>
                <a:latin typeface="맑은 고딕"/>
              </a:rPr>
              <a:t>✉  </a:t>
            </a:r>
            <a:r>
              <a:rPr sz="1300" b="1" i="0" dirty="0" err="1">
                <a:solidFill>
                  <a:srgbClr val="101218"/>
                </a:solidFill>
                <a:latin typeface="맑은 고딕"/>
              </a:rPr>
              <a:t>support@baroer.app</a:t>
            </a:r>
            <a:r>
              <a:rPr sz="1300" b="1" i="0" dirty="0">
                <a:solidFill>
                  <a:srgbClr val="101218"/>
                </a:solidFill>
                <a:latin typeface="맑은 고딕"/>
              </a:rPr>
              <a:t>     ·     </a:t>
            </a:r>
            <a:r>
              <a:rPr lang="en-US" sz="1300" b="1" i="0" dirty="0">
                <a:solidFill>
                  <a:srgbClr val="101218"/>
                </a:solidFill>
                <a:latin typeface="맑은 고딕"/>
              </a:rPr>
              <a:t>AI</a:t>
            </a:r>
            <a:r>
              <a:rPr lang="ko-KR" altLang="en-US" sz="1300" b="1" i="0" dirty="0">
                <a:solidFill>
                  <a:srgbClr val="101218"/>
                </a:solidFill>
                <a:latin typeface="맑은 고딕"/>
              </a:rPr>
              <a:t>르네상스 </a:t>
            </a:r>
            <a:r>
              <a:rPr sz="1300" b="1" i="0" dirty="0">
                <a:solidFill>
                  <a:srgbClr val="101218"/>
                </a:solidFill>
                <a:latin typeface="맑은 고딕"/>
              </a:rPr>
              <a:t>·   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1989</Words>
  <Application>Microsoft Office PowerPoint</Application>
  <PresentationFormat>와이드스크린</PresentationFormat>
  <Paragraphs>449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맑은 고딕</vt:lpstr>
      <vt:lpstr>Arial</vt:lpstr>
      <vt:lpstr>Calibri</vt:lpstr>
      <vt:lpstr>Segoe UI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 Lee</cp:lastModifiedBy>
  <cp:revision>2</cp:revision>
  <dcterms:created xsi:type="dcterms:W3CDTF">2013-01-27T09:14:16Z</dcterms:created>
  <dcterms:modified xsi:type="dcterms:W3CDTF">2026-04-20T08:45:49Z</dcterms:modified>
  <cp:category/>
</cp:coreProperties>
</file>